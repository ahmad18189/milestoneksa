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DC971B4-4233-4686-B0C0-C76664499D35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0FB8273-D47E-4855-AE7A-154D91174EF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51095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B8273-D47E-4855-AE7A-154D91174EF7}" type="slidenum">
              <a:rPr lang="ar-SA" smtClean="0"/>
              <a:t>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78120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2C6E84E-6E4A-9DB9-AFDB-A51000034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EE28FF3-EE5E-30F0-9AF8-E76C5E79E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52C282-401C-8EA0-0762-6CB55CF0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D98D4D8-36FD-3610-B83A-B96C9D61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83EE35-A06A-3430-CA76-8C7C9DC5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3223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D6B122-D283-AB10-8708-B7804E3D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633C1FD-E987-D15B-3718-9810E1074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F339D05-EE3F-1D93-3467-C7BCAC32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3C00631-CB34-31CC-554B-7C787DCD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C122817-060C-BC65-F2BB-44258383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15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264CC96-114C-2957-DB23-6654B498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C524CBF2-F6C5-455D-2AC9-5BFA3150B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E66262C-C0C6-C83D-9F10-19070ABA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F3C954F-1552-10A3-CBD7-DDA5B6E8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F5650A2-ABFA-7890-036F-261DDFE4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981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1E5A937-8EE9-1A5A-5A68-AB1FF8E8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F230B06-B58A-EF43-A906-F837A4226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69E40215-375D-0FFC-0FCF-F0C4308EF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70F28CF-7CC1-99CA-7BAC-F2EC5392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0FD654C-BF3C-F6DB-8293-424256D8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5FFC4DA-5722-1140-B810-5FE289E0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38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C03703-189B-B8ED-D024-221EF523E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A90F145-1A00-85ED-DF32-F9BE0DE46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3B11D286-7355-B14D-E60C-5973C03D2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06F854CF-180A-71EA-3BE3-62C3DA2FF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CC854D95-3CC6-C7A9-B0FE-9EC460DC1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224F16D8-ABE8-0FDC-180D-C3BFCFE0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D3E04DD-BD6A-B01A-77F6-2C22D75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6B628633-C081-86CE-3FEB-E7093D24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5511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E3A0C0-FE65-6E71-A6F0-4E1D9439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7C68CC0D-DD97-F08F-5043-0C69F11B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E34CBEC5-1612-236F-96FD-1F66AC7B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2A1E992C-193D-662A-BFA6-A560B5E8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59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C410674F-BC0E-A948-4290-061490A6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B3A2A0CA-A78F-C541-3835-147A7C83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9E35B63-DAF8-7590-DDAB-BDFB6E28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5225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246CB8-8918-393D-209F-F63CCC4A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A20D444-FB16-44EB-1AAE-270F2E0F6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36D4F86-C578-14B1-3C69-05D252B7C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5984EE5-2F98-3D80-9ABB-9CF34F95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AA5203E-B4EE-7C33-BE51-3B5EC52F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E35C49A-627F-572D-03FA-D9191BC6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8883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14FD9D-7016-371D-AAAA-A68E4CD9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C4BB29CA-47CF-C9A2-A2C5-108648588D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29E9E7F-5210-ECAA-A494-7B8AE7C96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2A4BEAD-8CEC-B325-B556-16EB82E2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6EEC36-4BD5-3A4B-7A08-B949A4A3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E3620BD-251C-D862-0434-9F19A5DE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1073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7C510C8-361D-D8DC-8953-77092AE1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FEBF7EE-F8A0-A7AC-E6C5-47446DF3E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DAF5D10-3A39-D5EC-4777-EB474ED3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8ADEF7F-4CFA-6ABC-2699-CF1DB766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66CCCCD-4381-3195-0A4E-936A1F20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4796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D4A80BDA-18C3-171B-AD4E-19632C87D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EA2A3D5-4B50-3FE5-58DA-5E9CA9F7D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E5BFA3B-C312-372B-CE3E-972024C8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237274D-388E-D5B0-BB8D-EFA43F17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EB507F3-4727-9E93-22A6-26CCBA20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3837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C31F1436-C406-C060-32D9-444C274C0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D00A9CB-7738-E7DA-8C41-E27AD8AD4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0E68C44-827C-F0D9-FFA3-02E230CC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AF10-78E5-41BE-AB67-26D46B7F2EC8}" type="datetimeFigureOut">
              <a:rPr lang="ar-SA" smtClean="0"/>
              <a:t>6/13/1447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3522206-B465-09E3-C5F4-3C295C9E0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1D03FA8-E7A4-8BC1-7442-FCE16EA85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A69A2-3EE6-495D-87DD-67DFB74B53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1450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6A9202FC-403F-CF58-3F59-02A0C019AB35}"/>
              </a:ext>
            </a:extLst>
          </p:cNvPr>
          <p:cNvSpPr txBox="1"/>
          <p:nvPr/>
        </p:nvSpPr>
        <p:spPr>
          <a:xfrm>
            <a:off x="3269202" y="2539883"/>
            <a:ext cx="60945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ar-SA" sz="2000" b="1" dirty="0">
                <a:cs typeface="AL-Mohanad" pitchFamily="2" charset="-78"/>
              </a:rPr>
              <a:t>السياسات المتبعة للمشاريع الجديدة في الشركة</a:t>
            </a:r>
          </a:p>
          <a:p>
            <a:pPr>
              <a:buNone/>
            </a:pPr>
            <a:endParaRPr lang="ar-SA" b="1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9FDC677B-A6D2-CDE4-C1AC-FD3A7C263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670" y="681314"/>
            <a:ext cx="1880081" cy="677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84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C23B6B40-CF67-336D-642B-3A6C7AA4537A}"/>
              </a:ext>
            </a:extLst>
          </p:cNvPr>
          <p:cNvSpPr txBox="1"/>
          <p:nvPr/>
        </p:nvSpPr>
        <p:spPr>
          <a:xfrm>
            <a:off x="683581" y="780313"/>
            <a:ext cx="107752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(1): التعريف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تهدف هذه السياسة إلى وضع إطار تنظيمي وإجرائي لإدارة المشاريع الجديدة داخل الشركة، وتحديد قواعد تقديم المقترحات وآليات دراستها واعتمادها وتنفيذها، بما يضمن تحقيق أعلى مستويات الجودة والحوكمة.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32E4F238-8709-2EAA-6AF7-49C292435B24}"/>
              </a:ext>
            </a:extLst>
          </p:cNvPr>
          <p:cNvSpPr txBox="1"/>
          <p:nvPr/>
        </p:nvSpPr>
        <p:spPr>
          <a:xfrm>
            <a:off x="1500326" y="1797714"/>
            <a:ext cx="10038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(2): نطاق التطبيق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تنطبق هذه السياسة على جميع المشاريع العقارية أو الإنشائية أو التشغيلية التي تنوي الشركة تنفيذها أو استثمارها.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57742DF6-39F1-DE2C-015E-8119EC3659D8}"/>
              </a:ext>
            </a:extLst>
          </p:cNvPr>
          <p:cNvSpPr txBox="1"/>
          <p:nvPr/>
        </p:nvSpPr>
        <p:spPr>
          <a:xfrm>
            <a:off x="559293" y="2538117"/>
            <a:ext cx="111481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(3): الجهات المخوّلة بتقديم فكرة المشروع </a:t>
            </a:r>
          </a:p>
          <a:p>
            <a:pPr>
              <a:buNone/>
            </a:pPr>
            <a:r>
              <a:rPr lang="ar-SA" dirty="0">
                <a:cs typeface="AL-Mohanad" pitchFamily="2" charset="-78"/>
              </a:rPr>
              <a:t>يجوز لأي موظف في الشركة تقديم مقترح مشروع جديد، شريطة الالتزام بالتالي:</a:t>
            </a:r>
          </a:p>
          <a:p>
            <a:pPr>
              <a:buFont typeface="+mj-lt"/>
              <a:buAutoNum type="arabicPeriod"/>
            </a:pPr>
            <a:r>
              <a:rPr lang="ar-SA" b="1" dirty="0">
                <a:cs typeface="AL-Mohanad" pitchFamily="2" charset="-78"/>
              </a:rPr>
              <a:t>تقديم الفكرة خطياً</a:t>
            </a:r>
            <a:r>
              <a:rPr lang="ar-SA" dirty="0">
                <a:cs typeface="AL-Mohanad" pitchFamily="2" charset="-78"/>
              </a:rPr>
              <a:t> مرفقاً بها:</a:t>
            </a:r>
          </a:p>
          <a:p>
            <a:pPr marL="742950" lvl="1" indent="-285750">
              <a:buFont typeface="+mj-lt"/>
              <a:buAutoNum type="arabicPeriod"/>
            </a:pPr>
            <a:r>
              <a:rPr lang="ar-SA" dirty="0">
                <a:cs typeface="AL-Mohanad" pitchFamily="2" charset="-78"/>
              </a:rPr>
              <a:t>وصف مختصر للمشروع</a:t>
            </a:r>
          </a:p>
          <a:p>
            <a:pPr marL="742950" lvl="1" indent="-285750">
              <a:buFont typeface="+mj-lt"/>
              <a:buAutoNum type="arabicPeriod"/>
            </a:pPr>
            <a:r>
              <a:rPr lang="ar-SA" dirty="0">
                <a:cs typeface="AL-Mohanad" pitchFamily="2" charset="-78"/>
              </a:rPr>
              <a:t>موقع العقار (إن وجد)</a:t>
            </a:r>
          </a:p>
          <a:p>
            <a:pPr marL="742950" lvl="1" indent="-285750">
              <a:buFont typeface="+mj-lt"/>
              <a:buAutoNum type="arabicPeriod"/>
            </a:pPr>
            <a:r>
              <a:rPr lang="ar-SA" dirty="0">
                <a:cs typeface="AL-Mohanad" pitchFamily="2" charset="-78"/>
              </a:rPr>
              <a:t>نوع الاستثمار المقترح</a:t>
            </a:r>
          </a:p>
          <a:p>
            <a:pPr marL="742950" lvl="1" indent="-285750">
              <a:buFont typeface="+mj-lt"/>
              <a:buAutoNum type="arabicPeriod"/>
            </a:pPr>
            <a:r>
              <a:rPr lang="ar-SA" dirty="0">
                <a:cs typeface="AL-Mohanad" pitchFamily="2" charset="-78"/>
              </a:rPr>
              <a:t>القيمة أو الجدوى المتوقعة للمشروع</a:t>
            </a:r>
          </a:p>
          <a:p>
            <a:pPr marL="742950" lvl="1" indent="-285750">
              <a:buFont typeface="+mj-lt"/>
              <a:buAutoNum type="arabicPeriod"/>
            </a:pPr>
            <a:r>
              <a:rPr lang="ar-SA" dirty="0">
                <a:cs typeface="AL-Mohanad" pitchFamily="2" charset="-78"/>
              </a:rPr>
              <a:t>أي بيانات أو مستندات داعمة</a:t>
            </a:r>
          </a:p>
          <a:p>
            <a:pPr>
              <a:buFont typeface="+mj-lt"/>
              <a:buAutoNum type="arabicPeriod"/>
            </a:pPr>
            <a:r>
              <a:rPr lang="ar-SA" b="1" dirty="0">
                <a:cs typeface="AL-Mohanad" pitchFamily="2" charset="-78"/>
              </a:rPr>
              <a:t>موافقة مبدئية من نائب الرئيس التنفيذي </a:t>
            </a:r>
            <a:r>
              <a:rPr lang="en-US" b="1" dirty="0">
                <a:cs typeface="AL-Mohanad" pitchFamily="2" charset="-78"/>
              </a:rPr>
              <a:t>Deputy CEO)</a:t>
            </a:r>
            <a:r>
              <a:rPr lang="ar-SA" b="1" dirty="0">
                <a:cs typeface="AL-Mohanad" pitchFamily="2" charset="-78"/>
              </a:rPr>
              <a:t>)</a:t>
            </a:r>
            <a:br>
              <a:rPr lang="en-US" dirty="0">
                <a:cs typeface="AL-Mohanad" pitchFamily="2" charset="-78"/>
              </a:rPr>
            </a:br>
            <a:r>
              <a:rPr lang="ar-SA" dirty="0">
                <a:cs typeface="AL-Mohanad" pitchFamily="2" charset="-78"/>
              </a:rPr>
              <a:t>ولا تُقبل أي فكرة دون هذه الموافقة.</a:t>
            </a:r>
          </a:p>
          <a:p>
            <a:pPr>
              <a:buFont typeface="+mj-lt"/>
              <a:buAutoNum type="arabicPeriod"/>
            </a:pPr>
            <a:r>
              <a:rPr lang="ar-SA" b="1" dirty="0">
                <a:cs typeface="AL-Mohanad" pitchFamily="2" charset="-78"/>
              </a:rPr>
              <a:t>اعتماد نهائي من الرئيس التنفيذي </a:t>
            </a:r>
            <a:r>
              <a:rPr lang="en-US" b="1" dirty="0">
                <a:cs typeface="AL-Mohanad" pitchFamily="2" charset="-78"/>
              </a:rPr>
              <a:t>CEO)</a:t>
            </a:r>
            <a:r>
              <a:rPr lang="ar-SA" b="1" dirty="0">
                <a:cs typeface="AL-Mohanad" pitchFamily="2" charset="-78"/>
              </a:rPr>
              <a:t>)</a:t>
            </a:r>
            <a:br>
              <a:rPr lang="en-US" dirty="0">
                <a:cs typeface="AL-Mohanad" pitchFamily="2" charset="-78"/>
              </a:rPr>
            </a:br>
            <a:r>
              <a:rPr lang="ar-SA" dirty="0">
                <a:cs typeface="AL-Mohanad" pitchFamily="2" charset="-78"/>
              </a:rPr>
              <a:t>ولا يبدأ أي إجراء أو تقييم إلا بعد صدور هذا الاعتماد.</a:t>
            </a:r>
          </a:p>
          <a:p>
            <a:pPr>
              <a:buNone/>
            </a:pPr>
            <a:r>
              <a:rPr lang="ar-SA" dirty="0">
                <a:cs typeface="AL-Mohanad" pitchFamily="2" charset="-78"/>
              </a:rPr>
              <a:t>التسلسل المعتمد:</a:t>
            </a:r>
            <a:br>
              <a:rPr lang="ar-SA" dirty="0">
                <a:cs typeface="AL-Mohanad" pitchFamily="2" charset="-78"/>
              </a:rPr>
            </a:br>
            <a:r>
              <a:rPr lang="ar-SA" b="1" dirty="0">
                <a:cs typeface="AL-Mohanad" pitchFamily="2" charset="-78"/>
              </a:rPr>
              <a:t>الموظف         نائب الرئيس التنفيذي (موافقة مبدئية)        الرئيس التنفيذي (اعتماد نهائي).</a:t>
            </a:r>
            <a:endParaRPr lang="ar-SA" dirty="0">
              <a:cs typeface="AL-Mohanad" pitchFamily="2" charset="-78"/>
            </a:endParaRPr>
          </a:p>
        </p:txBody>
      </p:sp>
      <p:cxnSp>
        <p:nvCxnSpPr>
          <p:cNvPr id="11" name="رابط كسهم مستقيم 10">
            <a:extLst>
              <a:ext uri="{FF2B5EF4-FFF2-40B4-BE49-F238E27FC236}">
                <a16:creationId xmlns:a16="http://schemas.microsoft.com/office/drawing/2014/main" id="{89F53DC2-FB89-EFC2-72C3-46950B4B83AB}"/>
              </a:ext>
            </a:extLst>
          </p:cNvPr>
          <p:cNvCxnSpPr/>
          <p:nvPr/>
        </p:nvCxnSpPr>
        <p:spPr>
          <a:xfrm flipH="1">
            <a:off x="10759739" y="6295748"/>
            <a:ext cx="2874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رابط كسهم مستقيم 11">
            <a:extLst>
              <a:ext uri="{FF2B5EF4-FFF2-40B4-BE49-F238E27FC236}">
                <a16:creationId xmlns:a16="http://schemas.microsoft.com/office/drawing/2014/main" id="{34B74617-A889-8C9F-427D-8E5441CF5DA2}"/>
              </a:ext>
            </a:extLst>
          </p:cNvPr>
          <p:cNvCxnSpPr/>
          <p:nvPr/>
        </p:nvCxnSpPr>
        <p:spPr>
          <a:xfrm flipH="1">
            <a:off x="7609649" y="6295748"/>
            <a:ext cx="2874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صورة 12">
            <a:extLst>
              <a:ext uri="{FF2B5EF4-FFF2-40B4-BE49-F238E27FC236}">
                <a16:creationId xmlns:a16="http://schemas.microsoft.com/office/drawing/2014/main" id="{5DBB461F-F567-EA0B-F2B4-C42A17A79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81" y="255186"/>
            <a:ext cx="1880081" cy="677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675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B55B278E-4984-0411-A5A1-E76170BABBFB}"/>
              </a:ext>
            </a:extLst>
          </p:cNvPr>
          <p:cNvSpPr txBox="1"/>
          <p:nvPr/>
        </p:nvSpPr>
        <p:spPr>
          <a:xfrm>
            <a:off x="2237173" y="663073"/>
            <a:ext cx="9203924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(4): التقييم الأولي للمشروع</a:t>
            </a:r>
          </a:p>
          <a:p>
            <a:pPr>
              <a:buNone/>
            </a:pPr>
            <a:endParaRPr lang="ar-SA" sz="500" b="1" dirty="0">
              <a:cs typeface="AL-Mohanad" pitchFamily="2" charset="-78"/>
            </a:endParaRP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أولاً: إدارة المشاريع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دراسة إمكانية تنفيذ المشروع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مراجعة الاشتراطات النظامية والبلدية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تقدير التكلفة المبدئية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تصور أولي للموقع إن لزم</a:t>
            </a:r>
          </a:p>
          <a:p>
            <a:endParaRPr lang="ar-SA" sz="500" b="1" dirty="0">
              <a:cs typeface="AL-Mohanad" pitchFamily="2" charset="-78"/>
            </a:endParaRP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ثانياً: الإدارة المالية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احتساب التكلفة التقديرية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تقييم العائد الاستثماري </a:t>
            </a:r>
            <a:r>
              <a:rPr lang="en-US" b="1" dirty="0">
                <a:cs typeface="AL-Mohanad" pitchFamily="2" charset="-78"/>
              </a:rPr>
              <a:t>ROI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دراسة المخاطر المالية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يُرفع تقرير التقييم الأولي للرئيس التنفيذي ونائبه.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85040CE9-2089-6C0F-F6F2-7519C90A4313}"/>
              </a:ext>
            </a:extLst>
          </p:cNvPr>
          <p:cNvSpPr txBox="1"/>
          <p:nvPr/>
        </p:nvSpPr>
        <p:spPr>
          <a:xfrm>
            <a:off x="1127464" y="4033226"/>
            <a:ext cx="103136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(5): دراسة الجدوى التفصيلية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1) إدارة المشاريع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</a:t>
            </a:r>
            <a:r>
              <a:rPr lang="en-US" b="1" dirty="0">
                <a:cs typeface="AL-Mohanad" pitchFamily="2" charset="-78"/>
              </a:rPr>
              <a:t>Layout / 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جدول كميات  </a:t>
            </a:r>
            <a:r>
              <a:rPr lang="en-US" b="1" dirty="0">
                <a:cs typeface="AL-Mohanad" pitchFamily="2" charset="-78"/>
              </a:rPr>
              <a:t>BOQ </a:t>
            </a:r>
            <a:r>
              <a:rPr lang="ar-SA" b="1" dirty="0">
                <a:cs typeface="AL-Mohanad" pitchFamily="2" charset="-78"/>
              </a:rPr>
              <a:t>مبدئي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تقدير مدة التنفيذ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2) الإدارة المالية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دراسة مالية كاملة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التدفقات النقدية المتوقعة لـ 3 سنوات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نقطة التعادل والعائد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2CE8A294-070C-11F5-8D4E-43AEC1C44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28" y="144384"/>
            <a:ext cx="1880081" cy="677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9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6C9C30B6-11CE-11AA-F6F0-23E681420D83}"/>
              </a:ext>
            </a:extLst>
          </p:cNvPr>
          <p:cNvSpPr txBox="1"/>
          <p:nvPr/>
        </p:nvSpPr>
        <p:spPr>
          <a:xfrm>
            <a:off x="1287262" y="1148147"/>
            <a:ext cx="102159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(6): الموافقات الإدارية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لا يجوز البدء في تنفيذ أي مشروع إلا بعد الحصول على:</a:t>
            </a:r>
          </a:p>
          <a:p>
            <a:pPr>
              <a:buFont typeface="+mj-lt"/>
              <a:buAutoNum type="arabicPeriod"/>
            </a:pPr>
            <a:r>
              <a:rPr lang="ar-SA" b="1" dirty="0">
                <a:cs typeface="AL-Mohanad" pitchFamily="2" charset="-78"/>
              </a:rPr>
              <a:t>موافقة الرئيس التنفيذي (الاعتماد النهائي)</a:t>
            </a:r>
          </a:p>
          <a:p>
            <a:pPr>
              <a:buFont typeface="+mj-lt"/>
              <a:buAutoNum type="arabicPeriod"/>
            </a:pPr>
            <a:r>
              <a:rPr lang="ar-SA" b="1" dirty="0">
                <a:cs typeface="AL-Mohanad" pitchFamily="2" charset="-78"/>
              </a:rPr>
              <a:t>موافقة نائب الرئيس التنفيذي (الموافقة الإشرافية)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المشاريع التي تزيد تكلفتها عن 2,000,000 ريال تُرفع للرئيس التنفيذي لاتخاذ القرار النهائي بشأنها.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DF6C43F6-007C-D258-5D3C-062B50C46ADA}"/>
              </a:ext>
            </a:extLst>
          </p:cNvPr>
          <p:cNvSpPr txBox="1"/>
          <p:nvPr/>
        </p:nvSpPr>
        <p:spPr>
          <a:xfrm>
            <a:off x="1047565" y="2897075"/>
            <a:ext cx="104556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(7): التصميم والتنفيذ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إدارة المشاريع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المتطلبات الفنية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رفع طلبات الرخص (بلدي – كهرباء – مياه – دفاع مدني)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طرح المشروع للمقاولين ومقارنة العروض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الإشراف الميداني على التنفيذ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تقديم تقرير أسبوعي عن تقدم الأعمال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الإدارة المالية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متابعة الصرف المالي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تقديم تقرير مالي شهري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CD080505-CAE2-63A0-9E5D-FE40A24E6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90" y="199440"/>
            <a:ext cx="1880081" cy="677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951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0EFA5474-E511-9094-480E-DC04FAA22F1D}"/>
              </a:ext>
            </a:extLst>
          </p:cNvPr>
          <p:cNvSpPr txBox="1"/>
          <p:nvPr/>
        </p:nvSpPr>
        <p:spPr>
          <a:xfrm>
            <a:off x="843379" y="1316516"/>
            <a:ext cx="107131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(8): الاستلام النهائي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محضر استلام نهائي من قبل إدارة المشاريع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التحقق من جودة الأعمال ومطابقتها للمخططات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تسليم المشروع مباشرة إلى قسم التسويق والمبيعات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3ECDAC5B-3492-5114-F482-CE9C4A5B66F9}"/>
              </a:ext>
            </a:extLst>
          </p:cNvPr>
          <p:cNvSpPr txBox="1"/>
          <p:nvPr/>
        </p:nvSpPr>
        <p:spPr>
          <a:xfrm>
            <a:off x="1518082" y="3048494"/>
            <a:ext cx="100384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(9): الأرشفة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تلتزم إدارة المشاريع بأرشفة ملف المشروع، ويشمل: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العقود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الرخص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المخططات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الصور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الفواتير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محاضر الاستلام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التقارير الفنية والمالية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33AE379F-EE09-539D-E7E1-6EF4C9DE3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79" y="249534"/>
            <a:ext cx="1880081" cy="677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04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0035330B-B5DA-42D2-EA4A-9B360C6147A9}"/>
              </a:ext>
            </a:extLst>
          </p:cNvPr>
          <p:cNvSpPr txBox="1"/>
          <p:nvPr/>
        </p:nvSpPr>
        <p:spPr>
          <a:xfrm>
            <a:off x="1207363" y="1180352"/>
            <a:ext cx="1032251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highlight>
                  <a:srgbClr val="FFFF00"/>
                </a:highlight>
                <a:cs typeface="AL-Mohanad" pitchFamily="2" charset="-78"/>
              </a:rPr>
              <a:t>المادة (10): توزيع المسؤوليات</a:t>
            </a: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الرئيس التنفيذي (</a:t>
            </a:r>
            <a:r>
              <a:rPr lang="en-US" b="1" dirty="0">
                <a:cs typeface="AL-Mohanad" pitchFamily="2" charset="-78"/>
              </a:rPr>
              <a:t>CEO</a:t>
            </a:r>
            <a:r>
              <a:rPr lang="ar-SA" b="1" dirty="0">
                <a:cs typeface="AL-Mohanad" pitchFamily="2" charset="-78"/>
              </a:rPr>
              <a:t>)</a:t>
            </a:r>
            <a:endParaRPr lang="en-US" b="1" dirty="0">
              <a:cs typeface="AL-Mohanad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اعتماد المشاريع نهائياً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اتخاذ القرارات الاستراتيجية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الإشراف العام على منظومة المشاريع</a:t>
            </a:r>
          </a:p>
          <a:p>
            <a:pPr>
              <a:buNone/>
            </a:pPr>
            <a:endParaRPr lang="ar-SA" sz="500" b="1" dirty="0">
              <a:cs typeface="AL-Mohanad" pitchFamily="2" charset="-78"/>
            </a:endParaRPr>
          </a:p>
          <a:p>
            <a:pPr>
              <a:buNone/>
            </a:pPr>
            <a:r>
              <a:rPr lang="ar-SA" b="1" dirty="0">
                <a:cs typeface="AL-Mohanad" pitchFamily="2" charset="-78"/>
              </a:rPr>
              <a:t>نائب الرئيس التنفيذي (</a:t>
            </a:r>
            <a:r>
              <a:rPr lang="en-US" b="1" dirty="0">
                <a:cs typeface="AL-Mohanad" pitchFamily="2" charset="-78"/>
              </a:rPr>
              <a:t>(Deputy CEO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مراجعة مقترحات المشاريع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منح الموافقات المبدئية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متابعة سير العمل في المشروع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370A997E-D6AA-38FF-666D-BF26379DEBC3}"/>
              </a:ext>
            </a:extLst>
          </p:cNvPr>
          <p:cNvSpPr txBox="1"/>
          <p:nvPr/>
        </p:nvSpPr>
        <p:spPr>
          <a:xfrm>
            <a:off x="1207363" y="3842619"/>
            <a:ext cx="103225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cs typeface="AL-Mohanad" pitchFamily="2" charset="-78"/>
              </a:rPr>
              <a:t>إدارة المشاريع: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الدراسات الفنية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التصور الأولي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cs typeface="AL-Mohanad" pitchFamily="2" charset="-78"/>
              </a:rPr>
              <a:t>BOQ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الإشراف الميداني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التقارير الأسبوعية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الاستلام النهائي</a:t>
            </a:r>
          </a:p>
          <a:p>
            <a:endParaRPr lang="ar-SA" dirty="0"/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C0CC7983-3D65-54DC-F637-5DDB58F7F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27" y="281819"/>
            <a:ext cx="1880081" cy="677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408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832E2117-2052-E629-ADA2-D57459A73A02}"/>
              </a:ext>
            </a:extLst>
          </p:cNvPr>
          <p:cNvSpPr txBox="1"/>
          <p:nvPr/>
        </p:nvSpPr>
        <p:spPr>
          <a:xfrm>
            <a:off x="819335" y="1032029"/>
            <a:ext cx="10553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b="1" dirty="0">
                <a:cs typeface="AL-Mohanad" pitchFamily="2" charset="-78"/>
              </a:rPr>
              <a:t>الإدارة المالية</a:t>
            </a:r>
          </a:p>
          <a:p>
            <a:r>
              <a:rPr lang="ar-SA" b="1" dirty="0">
                <a:cs typeface="AL-Mohanad" pitchFamily="2" charset="-78"/>
              </a:rPr>
              <a:t>الدراسات المالية</a:t>
            </a:r>
          </a:p>
          <a:p>
            <a:r>
              <a:rPr lang="ar-SA" b="1" dirty="0">
                <a:cs typeface="AL-Mohanad" pitchFamily="2" charset="-78"/>
              </a:rPr>
              <a:t>احتساب التكلفة والعائد</a:t>
            </a:r>
          </a:p>
          <a:p>
            <a:r>
              <a:rPr lang="ar-SA" b="1" dirty="0">
                <a:cs typeface="AL-Mohanad" pitchFamily="2" charset="-78"/>
              </a:rPr>
              <a:t>متابعة الصرف</a:t>
            </a:r>
          </a:p>
          <a:p>
            <a:r>
              <a:rPr lang="ar-SA" b="1" dirty="0">
                <a:cs typeface="AL-Mohanad" pitchFamily="2" charset="-78"/>
              </a:rPr>
              <a:t>التقارير الشهرية</a:t>
            </a: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7C5EDE31-B9C0-4493-311B-094411D01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57" y="264167"/>
            <a:ext cx="1880081" cy="6771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3779106D-C40C-1845-E350-8A35F34629BC}"/>
              </a:ext>
            </a:extLst>
          </p:cNvPr>
          <p:cNvSpPr txBox="1"/>
          <p:nvPr/>
        </p:nvSpPr>
        <p:spPr>
          <a:xfrm>
            <a:off x="1376039" y="2600111"/>
            <a:ext cx="100650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cs typeface="AL-Mohanad" pitchFamily="2" charset="-78"/>
              </a:rPr>
              <a:t>التسويق والتأجير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التسويق للمشاريع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استقطاب المستأجرين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تقديم بيانات المستأجرين للشؤون القانونية</a:t>
            </a: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1135DEA1-5345-6408-BCC8-F5CFD5B9F888}"/>
              </a:ext>
            </a:extLst>
          </p:cNvPr>
          <p:cNvSpPr txBox="1"/>
          <p:nvPr/>
        </p:nvSpPr>
        <p:spPr>
          <a:xfrm>
            <a:off x="1597981" y="3997572"/>
            <a:ext cx="98431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cs typeface="AL-Mohanad" pitchFamily="2" charset="-78"/>
              </a:rPr>
              <a:t>الشؤون القانونية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إعداد صيغة العقود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مراجعة البنود القانونية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اعتماد التعديلات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cs typeface="AL-Mohanad" pitchFamily="2" charset="-78"/>
              </a:rPr>
              <a:t>حفظ النسخ المعتمدة</a:t>
            </a:r>
          </a:p>
        </p:txBody>
      </p:sp>
    </p:spTree>
    <p:extLst>
      <p:ext uri="{BB962C8B-B14F-4D97-AF65-F5344CB8AC3E}">
        <p14:creationId xmlns:p14="http://schemas.microsoft.com/office/powerpoint/2010/main" val="142737944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502</Words>
  <Application>Microsoft Office PowerPoint</Application>
  <PresentationFormat>شاشة عريضة</PresentationFormat>
  <Paragraphs>98</Paragraphs>
  <Slides>7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2" baseType="lpstr">
      <vt:lpstr>AL-Mohanad</vt:lpstr>
      <vt:lpstr>Aptos</vt:lpstr>
      <vt:lpstr>Aptos Display</vt:lpstr>
      <vt:lpstr>Arial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eqtefan</dc:creator>
  <cp:lastModifiedBy>mohammad eqtefan</cp:lastModifiedBy>
  <cp:revision>1</cp:revision>
  <dcterms:created xsi:type="dcterms:W3CDTF">2025-12-03T06:27:06Z</dcterms:created>
  <dcterms:modified xsi:type="dcterms:W3CDTF">2025-12-03T13:47:31Z</dcterms:modified>
</cp:coreProperties>
</file>